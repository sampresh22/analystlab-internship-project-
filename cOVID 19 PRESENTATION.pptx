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9FF"/>
    <a:srgbClr val="071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E86C4B-EE9D-44D2-A9FE-A048D0033D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77176-C523-4699-A8A7-0FDB25B9A134}">
      <dgm:prSet phldrT="[Text]" phldr="0" custT="1"/>
      <dgm:spPr>
        <a:noFill/>
        <a:ln w="38100">
          <a:solidFill>
            <a:srgbClr val="00D9FF"/>
          </a:solidFill>
        </a:ln>
      </dgm:spPr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Total Confirmed Cases</a:t>
          </a:r>
        </a:p>
      </dgm:t>
    </dgm:pt>
    <dgm:pt modelId="{0309877E-3FD5-45C5-99DF-5D979B8DD6D4}" type="parTrans" cxnId="{560108DA-4B93-423A-8B5A-41AB27D1E3EB}">
      <dgm:prSet/>
      <dgm:spPr/>
      <dgm:t>
        <a:bodyPr/>
        <a:lstStyle/>
        <a:p>
          <a:endParaRPr lang="en-US"/>
        </a:p>
      </dgm:t>
    </dgm:pt>
    <dgm:pt modelId="{2151E988-EC0C-4C89-8FD4-93B7D18EE96F}" type="sibTrans" cxnId="{560108DA-4B93-423A-8B5A-41AB27D1E3EB}">
      <dgm:prSet/>
      <dgm:spPr/>
      <dgm:t>
        <a:bodyPr/>
        <a:lstStyle/>
        <a:p>
          <a:endParaRPr lang="en-US"/>
        </a:p>
      </dgm:t>
    </dgm:pt>
    <dgm:pt modelId="{00305630-63DC-4D15-A421-9DF8FFAFCE0D}">
      <dgm:prSet phldrT="[Text]" phldr="0" custT="1"/>
      <dgm:spPr>
        <a:noFill/>
        <a:ln w="38100">
          <a:solidFill>
            <a:srgbClr val="00D9FF"/>
          </a:solidFill>
        </a:ln>
      </dgm:spPr>
      <dgm:t>
        <a:bodyPr/>
        <a:lstStyle/>
        <a:p>
          <a:r>
            <a:rPr lang="en-US" sz="1800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Total</a:t>
          </a:r>
          <a:r>
            <a:rPr lang="en-US" sz="3100" kern="1200" dirty="0"/>
            <a:t> </a:t>
          </a:r>
          <a:r>
            <a:rPr lang="en-US" sz="1800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Death</a:t>
          </a:r>
          <a:r>
            <a:rPr lang="en-US" sz="3100" kern="1200" dirty="0"/>
            <a:t> </a:t>
          </a:r>
          <a:r>
            <a:rPr lang="en-US" sz="1800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Cases</a:t>
          </a:r>
        </a:p>
      </dgm:t>
    </dgm:pt>
    <dgm:pt modelId="{85AF942C-7F3F-45E7-8BC5-420762828CE6}" type="parTrans" cxnId="{51BB125B-25BD-496A-84EC-EAE9868E7785}">
      <dgm:prSet/>
      <dgm:spPr/>
      <dgm:t>
        <a:bodyPr/>
        <a:lstStyle/>
        <a:p>
          <a:endParaRPr lang="en-US"/>
        </a:p>
      </dgm:t>
    </dgm:pt>
    <dgm:pt modelId="{96A8308A-8D25-40F7-9F80-0B13544601D0}" type="sibTrans" cxnId="{51BB125B-25BD-496A-84EC-EAE9868E7785}">
      <dgm:prSet/>
      <dgm:spPr/>
      <dgm:t>
        <a:bodyPr/>
        <a:lstStyle/>
        <a:p>
          <a:endParaRPr lang="en-US"/>
        </a:p>
      </dgm:t>
    </dgm:pt>
    <dgm:pt modelId="{D16B12BC-AEB1-4F89-95FB-3532EB649C91}">
      <dgm:prSet phldrT="[Text]" phldr="0" custT="1"/>
      <dgm:spPr>
        <a:noFill/>
        <a:ln w="38100">
          <a:solidFill>
            <a:srgbClr val="00D9FF"/>
          </a:solidFill>
        </a:ln>
      </dgm:spPr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Total Recovered Cases</a:t>
          </a:r>
        </a:p>
      </dgm:t>
    </dgm:pt>
    <dgm:pt modelId="{95AAC2F9-C425-403A-A142-1848A430B0AC}" type="parTrans" cxnId="{8EED01C2-F84D-42E6-B544-CF836DDF69E5}">
      <dgm:prSet/>
      <dgm:spPr/>
      <dgm:t>
        <a:bodyPr/>
        <a:lstStyle/>
        <a:p>
          <a:endParaRPr lang="en-US"/>
        </a:p>
      </dgm:t>
    </dgm:pt>
    <dgm:pt modelId="{1496C780-58E0-4516-9F88-0C57D4530020}" type="sibTrans" cxnId="{8EED01C2-F84D-42E6-B544-CF836DDF69E5}">
      <dgm:prSet/>
      <dgm:spPr/>
      <dgm:t>
        <a:bodyPr/>
        <a:lstStyle/>
        <a:p>
          <a:endParaRPr lang="en-US"/>
        </a:p>
      </dgm:t>
    </dgm:pt>
    <dgm:pt modelId="{8B8C3A56-E720-4C5E-B5DF-743268EC8D31}">
      <dgm:prSet phldrT="[Text]" phldr="0" custT="1"/>
      <dgm:spPr>
        <a:noFill/>
        <a:ln w="38100">
          <a:solidFill>
            <a:srgbClr val="00D9FF"/>
          </a:solidFill>
        </a:ln>
      </dgm:spPr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Recovery Rate</a:t>
          </a:r>
        </a:p>
      </dgm:t>
    </dgm:pt>
    <dgm:pt modelId="{D5ADEBE8-CD76-4CBD-8E8E-F1C87B4D54F0}" type="parTrans" cxnId="{9766F5EE-A8E9-4DE1-9CD4-FFA1332CC902}">
      <dgm:prSet/>
      <dgm:spPr/>
      <dgm:t>
        <a:bodyPr/>
        <a:lstStyle/>
        <a:p>
          <a:endParaRPr lang="en-US"/>
        </a:p>
      </dgm:t>
    </dgm:pt>
    <dgm:pt modelId="{98CFA2A6-C11E-405C-921A-4E7183C32F08}" type="sibTrans" cxnId="{9766F5EE-A8E9-4DE1-9CD4-FFA1332CC902}">
      <dgm:prSet/>
      <dgm:spPr/>
      <dgm:t>
        <a:bodyPr/>
        <a:lstStyle/>
        <a:p>
          <a:endParaRPr lang="en-US"/>
        </a:p>
      </dgm:t>
    </dgm:pt>
    <dgm:pt modelId="{170BC7FA-D871-45C3-ABCA-57F34E2D1841}">
      <dgm:prSet phldrT="[Text]" phldr="0" custT="1"/>
      <dgm:spPr>
        <a:noFill/>
        <a:ln w="38100">
          <a:solidFill>
            <a:srgbClr val="00D9FF"/>
          </a:solidFill>
        </a:ln>
      </dgm:spPr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Total Countries Analyzed</a:t>
          </a:r>
        </a:p>
      </dgm:t>
    </dgm:pt>
    <dgm:pt modelId="{D7EF63A8-F680-44DD-B05E-42E255A72F3A}" type="parTrans" cxnId="{817D7CBC-282D-4981-BEEA-BAB13EB77D8A}">
      <dgm:prSet/>
      <dgm:spPr/>
      <dgm:t>
        <a:bodyPr/>
        <a:lstStyle/>
        <a:p>
          <a:endParaRPr lang="en-US"/>
        </a:p>
      </dgm:t>
    </dgm:pt>
    <dgm:pt modelId="{420AE7B7-3319-4951-99D6-96ABC704799A}" type="sibTrans" cxnId="{817D7CBC-282D-4981-BEEA-BAB13EB77D8A}">
      <dgm:prSet/>
      <dgm:spPr/>
      <dgm:t>
        <a:bodyPr/>
        <a:lstStyle/>
        <a:p>
          <a:endParaRPr lang="en-US"/>
        </a:p>
      </dgm:t>
    </dgm:pt>
    <dgm:pt modelId="{2CD9CC5A-23A6-4603-A5F5-32C92A5A55A7}" type="pres">
      <dgm:prSet presAssocID="{91E86C4B-EE9D-44D2-A9FE-A048D0033D4D}" presName="diagram" presStyleCnt="0">
        <dgm:presLayoutVars>
          <dgm:dir/>
          <dgm:resizeHandles val="exact"/>
        </dgm:presLayoutVars>
      </dgm:prSet>
      <dgm:spPr/>
    </dgm:pt>
    <dgm:pt modelId="{C01A6281-94B7-40FE-9474-BF73782617B2}" type="pres">
      <dgm:prSet presAssocID="{9A877176-C523-4699-A8A7-0FDB25B9A134}" presName="node" presStyleLbl="node1" presStyleIdx="0" presStyleCnt="5">
        <dgm:presLayoutVars>
          <dgm:bulletEnabled val="1"/>
        </dgm:presLayoutVars>
      </dgm:prSet>
      <dgm:spPr/>
    </dgm:pt>
    <dgm:pt modelId="{AB34144C-1DF6-4BFF-944B-F2CF8E5EC3C3}" type="pres">
      <dgm:prSet presAssocID="{2151E988-EC0C-4C89-8FD4-93B7D18EE96F}" presName="sibTrans" presStyleCnt="0"/>
      <dgm:spPr/>
    </dgm:pt>
    <dgm:pt modelId="{0DB6FD13-8826-47F5-A3A0-82227988D444}" type="pres">
      <dgm:prSet presAssocID="{00305630-63DC-4D15-A421-9DF8FFAFCE0D}" presName="node" presStyleLbl="node1" presStyleIdx="1" presStyleCnt="5">
        <dgm:presLayoutVars>
          <dgm:bulletEnabled val="1"/>
        </dgm:presLayoutVars>
      </dgm:prSet>
      <dgm:spPr/>
    </dgm:pt>
    <dgm:pt modelId="{160D9BE1-FE3F-43FE-8F3F-8BEEB1F54394}" type="pres">
      <dgm:prSet presAssocID="{96A8308A-8D25-40F7-9F80-0B13544601D0}" presName="sibTrans" presStyleCnt="0"/>
      <dgm:spPr/>
    </dgm:pt>
    <dgm:pt modelId="{13DD7FD1-AD92-4EE0-8667-A1901A057D73}" type="pres">
      <dgm:prSet presAssocID="{D16B12BC-AEB1-4F89-95FB-3532EB649C91}" presName="node" presStyleLbl="node1" presStyleIdx="2" presStyleCnt="5">
        <dgm:presLayoutVars>
          <dgm:bulletEnabled val="1"/>
        </dgm:presLayoutVars>
      </dgm:prSet>
      <dgm:spPr/>
    </dgm:pt>
    <dgm:pt modelId="{73A69C74-6A88-4801-B270-26DED5D77912}" type="pres">
      <dgm:prSet presAssocID="{1496C780-58E0-4516-9F88-0C57D4530020}" presName="sibTrans" presStyleCnt="0"/>
      <dgm:spPr/>
    </dgm:pt>
    <dgm:pt modelId="{622AFDB6-5289-49F7-B121-2B6A19760300}" type="pres">
      <dgm:prSet presAssocID="{8B8C3A56-E720-4C5E-B5DF-743268EC8D31}" presName="node" presStyleLbl="node1" presStyleIdx="3" presStyleCnt="5">
        <dgm:presLayoutVars>
          <dgm:bulletEnabled val="1"/>
        </dgm:presLayoutVars>
      </dgm:prSet>
      <dgm:spPr/>
    </dgm:pt>
    <dgm:pt modelId="{1D96CC09-D9D6-4F41-976B-234F79DC5C5D}" type="pres">
      <dgm:prSet presAssocID="{98CFA2A6-C11E-405C-921A-4E7183C32F08}" presName="sibTrans" presStyleCnt="0"/>
      <dgm:spPr/>
    </dgm:pt>
    <dgm:pt modelId="{10F54BBA-84C6-4FE5-A6EC-13C11F268C80}" type="pres">
      <dgm:prSet presAssocID="{170BC7FA-D871-45C3-ABCA-57F34E2D1841}" presName="node" presStyleLbl="node1" presStyleIdx="4" presStyleCnt="5">
        <dgm:presLayoutVars>
          <dgm:bulletEnabled val="1"/>
        </dgm:presLayoutVars>
      </dgm:prSet>
      <dgm:spPr/>
    </dgm:pt>
  </dgm:ptLst>
  <dgm:cxnLst>
    <dgm:cxn modelId="{C34BF93E-165A-426F-9408-4638D786CE19}" type="presOf" srcId="{91E86C4B-EE9D-44D2-A9FE-A048D0033D4D}" destId="{2CD9CC5A-23A6-4603-A5F5-32C92A5A55A7}" srcOrd="0" destOrd="0" presId="urn:microsoft.com/office/officeart/2005/8/layout/default"/>
    <dgm:cxn modelId="{51BB125B-25BD-496A-84EC-EAE9868E7785}" srcId="{91E86C4B-EE9D-44D2-A9FE-A048D0033D4D}" destId="{00305630-63DC-4D15-A421-9DF8FFAFCE0D}" srcOrd="1" destOrd="0" parTransId="{85AF942C-7F3F-45E7-8BC5-420762828CE6}" sibTransId="{96A8308A-8D25-40F7-9F80-0B13544601D0}"/>
    <dgm:cxn modelId="{4A7EB961-B41E-4D9B-8986-40605181B5BC}" type="presOf" srcId="{D16B12BC-AEB1-4F89-95FB-3532EB649C91}" destId="{13DD7FD1-AD92-4EE0-8667-A1901A057D73}" srcOrd="0" destOrd="0" presId="urn:microsoft.com/office/officeart/2005/8/layout/default"/>
    <dgm:cxn modelId="{817D7CBC-282D-4981-BEEA-BAB13EB77D8A}" srcId="{91E86C4B-EE9D-44D2-A9FE-A048D0033D4D}" destId="{170BC7FA-D871-45C3-ABCA-57F34E2D1841}" srcOrd="4" destOrd="0" parTransId="{D7EF63A8-F680-44DD-B05E-42E255A72F3A}" sibTransId="{420AE7B7-3319-4951-99D6-96ABC704799A}"/>
    <dgm:cxn modelId="{0280AAC0-5147-4E04-A915-A180B1BAE3C4}" type="presOf" srcId="{8B8C3A56-E720-4C5E-B5DF-743268EC8D31}" destId="{622AFDB6-5289-49F7-B121-2B6A19760300}" srcOrd="0" destOrd="0" presId="urn:microsoft.com/office/officeart/2005/8/layout/default"/>
    <dgm:cxn modelId="{8EED01C2-F84D-42E6-B544-CF836DDF69E5}" srcId="{91E86C4B-EE9D-44D2-A9FE-A048D0033D4D}" destId="{D16B12BC-AEB1-4F89-95FB-3532EB649C91}" srcOrd="2" destOrd="0" parTransId="{95AAC2F9-C425-403A-A142-1848A430B0AC}" sibTransId="{1496C780-58E0-4516-9F88-0C57D4530020}"/>
    <dgm:cxn modelId="{93024DC6-AF2C-4970-951A-0D13C9F8EA3B}" type="presOf" srcId="{170BC7FA-D871-45C3-ABCA-57F34E2D1841}" destId="{10F54BBA-84C6-4FE5-A6EC-13C11F268C80}" srcOrd="0" destOrd="0" presId="urn:microsoft.com/office/officeart/2005/8/layout/default"/>
    <dgm:cxn modelId="{8507D5CE-4DEB-4120-9BBB-FCC27221E3F3}" type="presOf" srcId="{9A877176-C523-4699-A8A7-0FDB25B9A134}" destId="{C01A6281-94B7-40FE-9474-BF73782617B2}" srcOrd="0" destOrd="0" presId="urn:microsoft.com/office/officeart/2005/8/layout/default"/>
    <dgm:cxn modelId="{560108DA-4B93-423A-8B5A-41AB27D1E3EB}" srcId="{91E86C4B-EE9D-44D2-A9FE-A048D0033D4D}" destId="{9A877176-C523-4699-A8A7-0FDB25B9A134}" srcOrd="0" destOrd="0" parTransId="{0309877E-3FD5-45C5-99DF-5D979B8DD6D4}" sibTransId="{2151E988-EC0C-4C89-8FD4-93B7D18EE96F}"/>
    <dgm:cxn modelId="{9766F5EE-A8E9-4DE1-9CD4-FFA1332CC902}" srcId="{91E86C4B-EE9D-44D2-A9FE-A048D0033D4D}" destId="{8B8C3A56-E720-4C5E-B5DF-743268EC8D31}" srcOrd="3" destOrd="0" parTransId="{D5ADEBE8-CD76-4CBD-8E8E-F1C87B4D54F0}" sibTransId="{98CFA2A6-C11E-405C-921A-4E7183C32F08}"/>
    <dgm:cxn modelId="{AFC3A6FA-D88C-47F9-BFF6-6B93E96AC16C}" type="presOf" srcId="{00305630-63DC-4D15-A421-9DF8FFAFCE0D}" destId="{0DB6FD13-8826-47F5-A3A0-82227988D444}" srcOrd="0" destOrd="0" presId="urn:microsoft.com/office/officeart/2005/8/layout/default"/>
    <dgm:cxn modelId="{2C5C3903-1938-44AD-BFF1-58501544AB82}" type="presParOf" srcId="{2CD9CC5A-23A6-4603-A5F5-32C92A5A55A7}" destId="{C01A6281-94B7-40FE-9474-BF73782617B2}" srcOrd="0" destOrd="0" presId="urn:microsoft.com/office/officeart/2005/8/layout/default"/>
    <dgm:cxn modelId="{32DFFC37-9E31-465A-ABC1-CFA680606C06}" type="presParOf" srcId="{2CD9CC5A-23A6-4603-A5F5-32C92A5A55A7}" destId="{AB34144C-1DF6-4BFF-944B-F2CF8E5EC3C3}" srcOrd="1" destOrd="0" presId="urn:microsoft.com/office/officeart/2005/8/layout/default"/>
    <dgm:cxn modelId="{D1AAA59B-3A23-4A70-AA5D-FDC0BF33FD94}" type="presParOf" srcId="{2CD9CC5A-23A6-4603-A5F5-32C92A5A55A7}" destId="{0DB6FD13-8826-47F5-A3A0-82227988D444}" srcOrd="2" destOrd="0" presId="urn:microsoft.com/office/officeart/2005/8/layout/default"/>
    <dgm:cxn modelId="{0EE8B794-ED5C-42F1-9D83-C0C61C6D5D4C}" type="presParOf" srcId="{2CD9CC5A-23A6-4603-A5F5-32C92A5A55A7}" destId="{160D9BE1-FE3F-43FE-8F3F-8BEEB1F54394}" srcOrd="3" destOrd="0" presId="urn:microsoft.com/office/officeart/2005/8/layout/default"/>
    <dgm:cxn modelId="{CA416197-539E-4EF4-8EEE-22C63010E195}" type="presParOf" srcId="{2CD9CC5A-23A6-4603-A5F5-32C92A5A55A7}" destId="{13DD7FD1-AD92-4EE0-8667-A1901A057D73}" srcOrd="4" destOrd="0" presId="urn:microsoft.com/office/officeart/2005/8/layout/default"/>
    <dgm:cxn modelId="{13EE6366-70E8-4A8C-ADD6-62B1DD077011}" type="presParOf" srcId="{2CD9CC5A-23A6-4603-A5F5-32C92A5A55A7}" destId="{73A69C74-6A88-4801-B270-26DED5D77912}" srcOrd="5" destOrd="0" presId="urn:microsoft.com/office/officeart/2005/8/layout/default"/>
    <dgm:cxn modelId="{28967A08-12B7-4AE4-AC00-EB11A316FABB}" type="presParOf" srcId="{2CD9CC5A-23A6-4603-A5F5-32C92A5A55A7}" destId="{622AFDB6-5289-49F7-B121-2B6A19760300}" srcOrd="6" destOrd="0" presId="urn:microsoft.com/office/officeart/2005/8/layout/default"/>
    <dgm:cxn modelId="{77706836-41C4-48E2-BBA4-CE1AA9496F1F}" type="presParOf" srcId="{2CD9CC5A-23A6-4603-A5F5-32C92A5A55A7}" destId="{1D96CC09-D9D6-4F41-976B-234F79DC5C5D}" srcOrd="7" destOrd="0" presId="urn:microsoft.com/office/officeart/2005/8/layout/default"/>
    <dgm:cxn modelId="{8E3E7D55-72EB-4CDF-B70E-F0242625EEC0}" type="presParOf" srcId="{2CD9CC5A-23A6-4603-A5F5-32C92A5A55A7}" destId="{10F54BBA-84C6-4FE5-A6EC-13C11F268C80}" srcOrd="8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A6281-94B7-40FE-9474-BF73782617B2}">
      <dsp:nvSpPr>
        <dsp:cNvPr id="0" name=""/>
        <dsp:cNvSpPr/>
      </dsp:nvSpPr>
      <dsp:spPr>
        <a:xfrm>
          <a:off x="1069542" y="885"/>
          <a:ext cx="2630360" cy="1578216"/>
        </a:xfrm>
        <a:prstGeom prst="rect">
          <a:avLst/>
        </a:prstGeom>
        <a:noFill/>
        <a:ln w="38100" cap="flat" cmpd="sng" algn="ctr">
          <a:solidFill>
            <a:srgbClr val="00D9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Total Confirmed Cases</a:t>
          </a:r>
        </a:p>
      </dsp:txBody>
      <dsp:txXfrm>
        <a:off x="1069542" y="885"/>
        <a:ext cx="2630360" cy="1578216"/>
      </dsp:txXfrm>
    </dsp:sp>
    <dsp:sp modelId="{0DB6FD13-8826-47F5-A3A0-82227988D444}">
      <dsp:nvSpPr>
        <dsp:cNvPr id="0" name=""/>
        <dsp:cNvSpPr/>
      </dsp:nvSpPr>
      <dsp:spPr>
        <a:xfrm>
          <a:off x="3962939" y="885"/>
          <a:ext cx="2630360" cy="1578216"/>
        </a:xfrm>
        <a:prstGeom prst="rect">
          <a:avLst/>
        </a:prstGeom>
        <a:noFill/>
        <a:ln w="38100" cap="flat" cmpd="sng" algn="ctr">
          <a:solidFill>
            <a:srgbClr val="00D9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Total</a:t>
          </a:r>
          <a:r>
            <a:rPr lang="en-US" sz="3100" kern="1200" dirty="0"/>
            <a:t> </a:t>
          </a:r>
          <a:r>
            <a:rPr lang="en-US" sz="1800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Death</a:t>
          </a:r>
          <a:r>
            <a:rPr lang="en-US" sz="3100" kern="1200" dirty="0"/>
            <a:t> </a:t>
          </a:r>
          <a:r>
            <a:rPr lang="en-US" sz="1800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Cases</a:t>
          </a:r>
        </a:p>
      </dsp:txBody>
      <dsp:txXfrm>
        <a:off x="3962939" y="885"/>
        <a:ext cx="2630360" cy="1578216"/>
      </dsp:txXfrm>
    </dsp:sp>
    <dsp:sp modelId="{13DD7FD1-AD92-4EE0-8667-A1901A057D73}">
      <dsp:nvSpPr>
        <dsp:cNvPr id="0" name=""/>
        <dsp:cNvSpPr/>
      </dsp:nvSpPr>
      <dsp:spPr>
        <a:xfrm>
          <a:off x="1069542" y="1842137"/>
          <a:ext cx="2630360" cy="1578216"/>
        </a:xfrm>
        <a:prstGeom prst="rect">
          <a:avLst/>
        </a:prstGeom>
        <a:noFill/>
        <a:ln w="38100" cap="flat" cmpd="sng" algn="ctr">
          <a:solidFill>
            <a:srgbClr val="00D9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Total Recovered Cases</a:t>
          </a:r>
        </a:p>
      </dsp:txBody>
      <dsp:txXfrm>
        <a:off x="1069542" y="1842137"/>
        <a:ext cx="2630360" cy="1578216"/>
      </dsp:txXfrm>
    </dsp:sp>
    <dsp:sp modelId="{622AFDB6-5289-49F7-B121-2B6A19760300}">
      <dsp:nvSpPr>
        <dsp:cNvPr id="0" name=""/>
        <dsp:cNvSpPr/>
      </dsp:nvSpPr>
      <dsp:spPr>
        <a:xfrm>
          <a:off x="3962939" y="1842137"/>
          <a:ext cx="2630360" cy="1578216"/>
        </a:xfrm>
        <a:prstGeom prst="rect">
          <a:avLst/>
        </a:prstGeom>
        <a:noFill/>
        <a:ln w="38100" cap="flat" cmpd="sng" algn="ctr">
          <a:solidFill>
            <a:srgbClr val="00D9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Recovery Rate</a:t>
          </a:r>
        </a:p>
      </dsp:txBody>
      <dsp:txXfrm>
        <a:off x="3962939" y="1842137"/>
        <a:ext cx="2630360" cy="1578216"/>
      </dsp:txXfrm>
    </dsp:sp>
    <dsp:sp modelId="{10F54BBA-84C6-4FE5-A6EC-13C11F268C80}">
      <dsp:nvSpPr>
        <dsp:cNvPr id="0" name=""/>
        <dsp:cNvSpPr/>
      </dsp:nvSpPr>
      <dsp:spPr>
        <a:xfrm>
          <a:off x="2516241" y="3683390"/>
          <a:ext cx="2630360" cy="1578216"/>
        </a:xfrm>
        <a:prstGeom prst="rect">
          <a:avLst/>
        </a:prstGeom>
        <a:noFill/>
        <a:ln w="38100" cap="flat" cmpd="sng" algn="ctr">
          <a:solidFill>
            <a:srgbClr val="00D9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Total Countries Analyzed</a:t>
          </a:r>
        </a:p>
      </dsp:txBody>
      <dsp:txXfrm>
        <a:off x="2516241" y="3683390"/>
        <a:ext cx="2630360" cy="1578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D897-1AAB-9D5B-FA9A-D87423A4D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B9576-9F9E-F203-B792-6260F600C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67F64-D116-E618-DA05-97C88BA4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5C8F5-05A8-5E3F-A1D6-4A533191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B243-1901-D2F5-3D3D-E61BBECD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A603-59C7-C566-6BD9-F9DEF67F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42F6-FB99-CEDB-1412-633C488F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6FE0D-E4BD-6AE8-A71C-394F9AF4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76C79-8E0D-B440-AFE4-56344011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813E3-99D2-D0BE-62C4-71706B01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9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C2E7-47E1-928B-0DDC-002666F5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96FBB-0DB8-6064-A34A-EB4F2DC11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143A4-C2C2-F1F4-8B05-7715DC29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09424-94CD-6F88-A600-52A9E2D2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E84F1-CC42-26D9-CF5A-372334A9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5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1C61-4258-0B9B-7742-2D361930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9D9F-1FD8-39B0-9CE7-44AED667E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AFE42-82E5-7FD8-3881-CEAC2FB47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5AAB5-1F06-E536-964D-B9A83B18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9B68A-602D-8180-2CF4-9FE2111D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A5E56-423D-8BDA-57EE-FB63AA68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2722-1679-0093-0BFB-61DCABEE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69A9F-9CFF-7F78-9A2B-BD9A48DE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D0C96-607F-2279-7C22-E4486169E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82E9C-B63A-2826-A21C-94E0D4A78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E6E7B-ED54-6EB1-718F-C53CBAB41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5CAE4-8E67-4D72-7A1C-0E11D7FE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1B9E1-589B-5CC2-754C-18D7B13B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ADF74-019F-6E1C-8236-0D3B18FA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7AD9-D73B-781C-A36A-0952B6A7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8B34F-35CD-CDB0-3269-8443E7EC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7009D-B39D-62A9-6724-AA3C8461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EA463-50A1-30C9-A2A1-8B0CE35A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F4A67-8D66-8BD7-3DE0-5BC22308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2C1EC-99A6-D8A1-4231-C9D97FED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D0C8-8127-E6A4-12E8-7F52B612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0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20D00-D21D-172E-6A30-57ECA8A2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E5861-4020-E115-D0B0-37245FCA1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CC2B6-BB65-9951-8F3A-10B41DC01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E1627-E33B-A21A-6F25-CFD0FA50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4F6EC-A466-21B6-F738-22BCF883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E7AA6-5E98-755D-A103-F0D07259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8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8A6C-639C-D721-04DD-8D4F0619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D3B54-F1E0-0578-1892-3F64F8EAD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314E4-C458-FCDE-35AD-E29FC8A1B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84056-675B-1DF1-BC38-88974AE6A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EC69E-BA6C-8879-23D9-37686E5B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9DCEF-6082-6703-B388-915D7417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21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B3F1-A7B4-F122-A97E-F54E3876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29A3C-1517-ADC9-127D-B69FF91E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BFB6B-1AEA-6890-6023-63EBDAC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E5A1B-4A76-C0F9-6304-FB1971A6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C3FB-E5E4-D607-CBE4-7BE63F95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0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DB8B66-1C7E-0354-29DF-A6B702F05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4D2DE-039E-7B14-C6EC-1791DFF58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57C0F-4BC5-2F82-247A-9D68EC3E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B2B34-01B6-2F06-B0E2-C36910E0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A073-3F11-D621-8685-8177A41F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6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7A1049-3281-461F-1488-BCE2435A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750E0-9FCF-CCB0-DB92-45750E6E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37C6D-A67F-CA9D-ECD6-C05D9AA8B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0993B-C739-41D5-AE66-7B0A91DECE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5EEA-717C-BBC6-FF91-FD2E5D91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EA412-8915-42F9-FBBF-AEE73FA90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18802-873F-4D46-B82A-F725EC29C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9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676081-B8C8-1376-FFAE-F39601999875}"/>
              </a:ext>
            </a:extLst>
          </p:cNvPr>
          <p:cNvSpPr txBox="1"/>
          <p:nvPr/>
        </p:nvSpPr>
        <p:spPr>
          <a:xfrm>
            <a:off x="273132" y="83127"/>
            <a:ext cx="11530941" cy="1015663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Global COVID-19 Trend Analysis Dashboard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Visualization and Dashboarding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01EF1-F92E-375A-B07B-B02F0BFFCBCE}"/>
              </a:ext>
            </a:extLst>
          </p:cNvPr>
          <p:cNvSpPr txBox="1"/>
          <p:nvPr/>
        </p:nvSpPr>
        <p:spPr>
          <a:xfrm>
            <a:off x="273132" y="1638794"/>
            <a:ext cx="11530941" cy="5016758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Prepared by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Samuel Precious </a:t>
            </a:r>
            <a:r>
              <a:rPr lang="en-US" sz="32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Mmesoma</a:t>
            </a:r>
            <a:endParaRPr lang="en-US" sz="3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endParaRPr lang="en-US" sz="3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AnalystLab</a:t>
            </a:r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Internship Program</a:t>
            </a:r>
          </a:p>
          <a:p>
            <a:pPr algn="ctr"/>
            <a:endParaRPr lang="en-US" sz="3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29</a:t>
            </a:r>
            <a:r>
              <a:rPr lang="en-US" sz="3200" baseline="30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</a:t>
            </a:r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May, 2026</a:t>
            </a:r>
          </a:p>
          <a:p>
            <a:pPr algn="ctr"/>
            <a:endParaRPr lang="en-US" sz="3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Tools Used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4100420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C882C-2691-189F-42FE-C7EA1028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57FF65-6890-94F9-F7B5-AF28E17317B3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F07AA-3BED-7D68-DEAD-E23E9657F187}"/>
              </a:ext>
            </a:extLst>
          </p:cNvPr>
          <p:cNvSpPr txBox="1"/>
          <p:nvPr/>
        </p:nvSpPr>
        <p:spPr>
          <a:xfrm>
            <a:off x="273132" y="1211282"/>
            <a:ext cx="11530941" cy="5078313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Dataset Source: Johns Hopkins University COVID-19 Repository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Dataset Type: Global COVID-19 Time-Series Dataset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Data Included: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Confirmed Cases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Death Cases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Recovered Cases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Countries/Regions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Dates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Tools Used: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Microsoft Power BI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Power Query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DAX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Objective: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analyze global COVID-19 trends and communicate insights through interactive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169272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6FBCD-0D06-FDD2-39EA-CCF4FD4E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915047-65B9-295C-D13B-FE8E5A9554BF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23B33-55F2-56AF-01EA-FFE6D558F971}"/>
              </a:ext>
            </a:extLst>
          </p:cNvPr>
          <p:cNvSpPr txBox="1"/>
          <p:nvPr/>
        </p:nvSpPr>
        <p:spPr>
          <a:xfrm>
            <a:off x="273132" y="1211282"/>
            <a:ext cx="11530941" cy="2308324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COVID-19 pandemic affected countries differently across the world, leading to varying infection rates, death rates, and recovery outcomes.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However, understanding these trends through raw datasets alone is difficult for decision-makers and healthcare stakeholders.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project aims to transform raw COVID-19 data into meaningful insights using interactive dashboards and visual storytelling to support better understanding of global pandemic trends.</a:t>
            </a:r>
          </a:p>
        </p:txBody>
      </p:sp>
    </p:spTree>
    <p:extLst>
      <p:ext uri="{BB962C8B-B14F-4D97-AF65-F5344CB8AC3E}">
        <p14:creationId xmlns:p14="http://schemas.microsoft.com/office/powerpoint/2010/main" val="136829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DC964-0703-B2AA-82FC-5C395045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93B91-4899-4C88-446A-F8CDF1094B09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and Transformation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7B45F-33C0-F4FC-1A7A-4AD171EBFCCC}"/>
              </a:ext>
            </a:extLst>
          </p:cNvPr>
          <p:cNvSpPr txBox="1"/>
          <p:nvPr/>
        </p:nvSpPr>
        <p:spPr>
          <a:xfrm>
            <a:off x="273132" y="1211282"/>
            <a:ext cx="11530941" cy="4247317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Steps Performed: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Imported CSV datasets into Power BI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Checked for missing values and inconsistencies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Renamed columns for readability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Unpivoted date columns for proper time-series analysis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Changed data types appropriately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Created calculated measures using DAX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Built relationships and prepared data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82558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A3304-D3C2-921A-4B33-09F8915D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9405CA-B4D3-8081-A72C-B1BF92225C12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Performance Indicators (KPIs)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DFFB2D6-8890-70FD-2119-D82BD592B4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480132"/>
              </p:ext>
            </p:extLst>
          </p:nvPr>
        </p:nvGraphicFramePr>
        <p:xfrm>
          <a:off x="2264578" y="1347628"/>
          <a:ext cx="7662843" cy="5262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74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670CD-50D1-E70D-89F6-DE447359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69A305-7126-0FEB-C998-2034EFF65315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D125A-D4DD-A816-E111-0CC739223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2" y="878959"/>
            <a:ext cx="6163247" cy="3617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900CF5-D863-CD93-1421-C3C4D79A8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860" y="878959"/>
            <a:ext cx="5697278" cy="36173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B86AB6-1BB2-F611-D643-DB7F1FF73108}"/>
              </a:ext>
            </a:extLst>
          </p:cNvPr>
          <p:cNvSpPr txBox="1"/>
          <p:nvPr/>
        </p:nvSpPr>
        <p:spPr>
          <a:xfrm>
            <a:off x="273132" y="4942638"/>
            <a:ext cx="11530941" cy="646331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dashboard was designed to provide interactive analysis of global COVID-19 trends using filters, KPI cards, trend charts, and country comparisons.</a:t>
            </a:r>
          </a:p>
        </p:txBody>
      </p:sp>
    </p:spTree>
    <p:extLst>
      <p:ext uri="{BB962C8B-B14F-4D97-AF65-F5344CB8AC3E}">
        <p14:creationId xmlns:p14="http://schemas.microsoft.com/office/powerpoint/2010/main" val="270481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5560F-5B17-FE0B-66F6-B2F85BD8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4649EA-EADD-5A6C-F016-909BE43CB42D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 and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BE1A6-62C8-D2D6-E517-56ADC893DF84}"/>
              </a:ext>
            </a:extLst>
          </p:cNvPr>
          <p:cNvSpPr txBox="1"/>
          <p:nvPr/>
        </p:nvSpPr>
        <p:spPr>
          <a:xfrm>
            <a:off x="3007818" y="932498"/>
            <a:ext cx="6061567" cy="2862322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United States recorded the highest confirmed cases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India showed strong recovery performance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Global cases peaked around 2022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Recovery trends improved significantly over time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Brazil recorded high cases and death counts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14624-E78C-10AE-E8D1-B69D58C068F0}"/>
              </a:ext>
            </a:extLst>
          </p:cNvPr>
          <p:cNvSpPr txBox="1"/>
          <p:nvPr/>
        </p:nvSpPr>
        <p:spPr>
          <a:xfrm>
            <a:off x="3450328" y="4120971"/>
            <a:ext cx="5176546" cy="2585323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</a:t>
            </a:r>
          </a:p>
          <a:p>
            <a:pPr algn="ctr"/>
            <a:endParaRPr lang="en-US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Improve healthcare preparedness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Strengthen disease monitoring systems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Encourage global health collaboration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Invest more in healthcare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7724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416D2-8D06-DA41-6E26-55BD7360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9FC97A-3A72-70CF-EECB-33EC052149C1}"/>
              </a:ext>
            </a:extLst>
          </p:cNvPr>
          <p:cNvSpPr txBox="1"/>
          <p:nvPr/>
        </p:nvSpPr>
        <p:spPr>
          <a:xfrm>
            <a:off x="273132" y="83127"/>
            <a:ext cx="11530941" cy="523220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DC009-3770-7A4E-3027-AE3E5CEFACB0}"/>
              </a:ext>
            </a:extLst>
          </p:cNvPr>
          <p:cNvSpPr txBox="1"/>
          <p:nvPr/>
        </p:nvSpPr>
        <p:spPr>
          <a:xfrm>
            <a:off x="3335131" y="1031651"/>
            <a:ext cx="6469882" cy="2031325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project demonstrates how data visualization can transform complex healthcare data into meaningful insights for decision-making.</a:t>
            </a: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Using Power BI, interactive dashboards were developed to analyze global COVID-19 trends, recovery patterns, and mortality rates effectively.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8D2D2-0983-C4CD-4161-D8AE7B0BDFCF}"/>
              </a:ext>
            </a:extLst>
          </p:cNvPr>
          <p:cNvSpPr txBox="1"/>
          <p:nvPr/>
        </p:nvSpPr>
        <p:spPr>
          <a:xfrm>
            <a:off x="3434283" y="5581485"/>
            <a:ext cx="6469882" cy="830997"/>
          </a:xfrm>
          <a:prstGeom prst="rect">
            <a:avLst/>
          </a:prstGeom>
          <a:noFill/>
          <a:ln w="38100">
            <a:solidFill>
              <a:srgbClr val="00D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116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415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 sam</dc:creator>
  <cp:lastModifiedBy>obi sam</cp:lastModifiedBy>
  <cp:revision>1</cp:revision>
  <dcterms:created xsi:type="dcterms:W3CDTF">2026-05-29T15:20:15Z</dcterms:created>
  <dcterms:modified xsi:type="dcterms:W3CDTF">2026-05-29T15:52:25Z</dcterms:modified>
</cp:coreProperties>
</file>